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Bangkok Airbnb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ED6F1"/>
                </a:solidFill>
              </a:rPr>
              <a:t>Market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D6F1"/>
                </a:solidFill>
              </a:rPr>
              <a:t>Expernetic Data Engineer Intern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Inside Airbnb Dataset  |  Bangkok, Thailand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ED6F1"/>
                </a:solidFill>
              </a:rPr>
              <a:t>31,069 Listings  •  11.3M Calendar Records  •  693K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Data Engineering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Ingestion · Cleaning · Enrichment · Star Schema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Exploratory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Price · Geography · Hosts · Reviews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Statistical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 Hypothesis Tests · OLS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64008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Machine Learning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Price Prediction · K-Means Clustering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AI &amp; NLP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Sentiment Analysis · Topic Modeling ·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 Overview — Bangkok Inside Airbnb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68880" cy="137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31,069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Active Listings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46888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Neighbourhoods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2468880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11.3M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Calendar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371600"/>
            <a:ext cx="246888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693K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Guest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Files Used: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▸  listings.csv.gz — 31K rows × 90 cols — Core listing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▸  listings.csv — 31K rows × 19 cols — Detailed attributes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▸  calendar.csv.gz — 11.3M rows × 5 cols — Daily 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▸  reviews.csv.gz — 693K rows × 6 cols — Full review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▸  neighbourhoods.geojson — 50 polygon boundaries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Engineering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103120" cy="1188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INGEST
src/ingest.py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79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21031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CLEAN
src/clean.py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103120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371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ENRICH
src/enrich.py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371600"/>
            <a:ext cx="210312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371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
src/model.py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371600"/>
            <a:ext cx="210312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371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ANALYSE
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Download &amp; extract .gz files
✓ Skip-if-exists logic
✓ Full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432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Price parsing (remove $,)
✓ Date standardization
✓ Boolean normalization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432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Join 7 datasets
✓ Compute occupancy rate
✓ Host 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432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Star schema in DuckDB
✓ 5 tables created
✓ 6 SQL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7432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EDA · Stats · ML
✓ NLP · Sentiment
✓ LLM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</a:rPr>
              <a:t>Master Table Output: 31,069 rows × 115 columns → master_listings.csv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Star Schema: fact_listings (31K rows)  +  dim_host (7,935)  +  dim_neighbourhood (50)  +  dim_room_type (4)  +  dim_property_type (79)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EDA Findings — Bangkok Airbnb Market</a:t>
            </a:r>
          </a:p>
        </p:txBody>
      </p:sp>
      <p:pic>
        <p:nvPicPr>
          <p:cNvPr id="4" name="Picture 3" descr="fig02_price_by_room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3200400"/>
          </a:xfrm>
          <a:prstGeom prst="rect">
            <a:avLst/>
          </a:prstGeom>
        </p:spPr>
      </p:pic>
      <p:pic>
        <p:nvPicPr>
          <p:cNvPr id="5" name="Picture 4" descr="fig08_superhost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Entire homes median ฿1,715/night vs private rooms ฿1,390/night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Superhosts achieve 28.3% occupancy vs 21.9% for regular hosts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Weekday occupancy dominates — Bangkok is a business travel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Parthum Wan is the most expensive neighbourhood (฿2,652 median)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Statistical Analysis — Hypothesis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64008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Entire home &gt; Private room prices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280160"/>
            <a:ext cx="2468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280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REJECTED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64008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48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Superhost &gt; Regular review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057400"/>
            <a:ext cx="2468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057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REJECTED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39"/>
            <a:ext cx="64008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346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2607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10+ reviews ≠ fewer reviews prices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2834639"/>
            <a:ext cx="2468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834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REJECTED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79"/>
            <a:ext cx="64008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1187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03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Neighbourhood prices differ (ANOVA)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611879"/>
            <a:ext cx="2468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6118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REJECTED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64008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89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8055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Weekend ≠ Weekday occupancy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4389120"/>
            <a:ext cx="2468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389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REJECTED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24712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All 5 null hypotheses rejected at α=0.05  |  Effect sizes reported (Cohen's d, eta-squared, rank-biserial r)  |  OLS R² explains key price variance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Machine Learning — Price Prediction &amp; Clustering</a:t>
            </a:r>
          </a:p>
        </p:txBody>
      </p:sp>
      <p:pic>
        <p:nvPicPr>
          <p:cNvPr id="4" name="Picture 3" descr="fig1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3200400"/>
          </a:xfrm>
          <a:prstGeom prst="rect">
            <a:avLst/>
          </a:prstGeom>
        </p:spPr>
      </p:pic>
      <p:pic>
        <p:nvPicPr>
          <p:cNvPr id="5" name="Picture 4" descr="fig12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188720"/>
            <a:ext cx="43891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Gradient Boosting outperforms Ridge &amp; Random Forest on all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Top features: accommodates, neighbourhood, occupancy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K-Means clustering reveals distinct listing archetypes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Amenity flags (WiFi, AC, Pool) contribute modestly to price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&amp; NLP — Sentiment Analysis &amp; LLM Insights</a:t>
            </a:r>
          </a:p>
        </p:txBody>
      </p:sp>
      <p:pic>
        <p:nvPicPr>
          <p:cNvPr id="4" name="Picture 3" descr="fig16_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2926080"/>
          </a:xfrm>
          <a:prstGeom prst="rect">
            <a:avLst/>
          </a:prstGeom>
        </p:spPr>
      </p:pic>
      <p:pic>
        <p:nvPicPr>
          <p:cNvPr id="5" name="Picture 4" descr="fig19_review_volum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80%+ of reviews are positive — rating inflation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LDA topics: Location, Cleanliness, Host Communication, Value, Amenities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Negative reviews cluster around noise &amp; cleanliness complaints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COVID-19 caused 90% drop in bookings — strong recovery by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▸  LLM (Claude API) used for automated insight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Hosts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Price entire homes ฿1,500–฿2,500 in central neighbourhoods. Pursue superhost status — it drives 29% higher occupancy. Offer weekly discounts to capture business travellers.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Investors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Target Parthum Wan &amp; Vadhana for premium returns. Avg annual revenue of ฿529K in top neighbourhoods. Single-listing hosts achieve highest occupancy rates.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5577840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233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Use sentiment analysis to flag at-risk listings proactively. Address rating inflation with verified review scoring. Surface weekday availability to business travel segments.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931920"/>
            <a:ext cx="557784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Analysts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Gradient Boosting is the recommended pricing model architecture. Neighbourhood and capacity explain majority of price variance. Amenity extraction from text adds meaningful predictive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 Stack &amp; 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pandas · numpy · DuckDB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6576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matplotlib · seaborn · folium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6576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 &amp;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scikit-learn · statsmodels · scipy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36576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06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NLP &amp;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NLTK · TextBlob · Claude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560320"/>
            <a:ext cx="3657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606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 modules · logging · pytest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560320"/>
            <a:ext cx="36576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Git ·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1124712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Deliverables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✓ 6 sections completed with full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✓ 19 visualizations + interactive Folium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✓ Production-quality pipeline with logging &amp;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✓ Star schema with 5 tables in DuckDB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✓ 5 hypothesis tests + OLS 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486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✓ 3 ML models + K-Means clustering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